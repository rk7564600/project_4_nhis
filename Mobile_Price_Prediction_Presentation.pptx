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614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8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1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0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8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0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5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860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63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78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41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29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3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08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E859-0292-D413-A3D2-D7B3241C4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697" y="2610815"/>
            <a:ext cx="7856317" cy="8181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cap="none" dirty="0">
                <a:gradFill flip="none" rotWithShape="1">
                  <a:gsLst>
                    <a:gs pos="30000">
                      <a:srgbClr val="FFFF71"/>
                    </a:gs>
                    <a:gs pos="2000">
                      <a:schemeClr val="bg2">
                        <a:lumMod val="40000"/>
                        <a:lumOff val="60000"/>
                      </a:schemeClr>
                    </a:gs>
                    <a:gs pos="75000">
                      <a:srgbClr val="FF0000"/>
                    </a:gs>
                    <a:gs pos="100000">
                      <a:srgbClr val="7030A0"/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b="1" cap="none" dirty="0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Hikes </a:t>
            </a:r>
            <a:r>
              <a:rPr lang="en-US" b="1" dirty="0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b="1" dirty="0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cap="none" dirty="0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olutions</a:t>
            </a:r>
            <a:endParaRPr lang="en-US" b="1" dirty="0">
              <a:gradFill flip="none" rotWithShape="1">
                <a:gsLst>
                  <a:gs pos="23000">
                    <a:srgbClr val="FFFF71"/>
                  </a:gs>
                  <a:gs pos="2000">
                    <a:schemeClr val="tx2"/>
                  </a:gs>
                  <a:gs pos="6100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8AAF8-B2FD-CEF6-4AB7-455AAA03D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6835" y="426094"/>
            <a:ext cx="2476846" cy="91150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D98948-5C85-29B5-1AFF-79ACCB94C6E6}"/>
              </a:ext>
            </a:extLst>
          </p:cNvPr>
          <p:cNvSpPr txBox="1"/>
          <p:nvPr/>
        </p:nvSpPr>
        <p:spPr>
          <a:xfrm>
            <a:off x="571500" y="3648075"/>
            <a:ext cx="8039099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700" b="1" dirty="0">
                <a:latin typeface="Work Sans"/>
              </a:rPr>
              <a:t>Next Hikes | Elevating Digital Experiences</a:t>
            </a:r>
          </a:p>
          <a:p>
            <a:pPr algn="l">
              <a:buNone/>
            </a:pPr>
            <a:endParaRPr lang="en-US" sz="1700" b="1" dirty="0">
              <a:latin typeface="Work Sans"/>
            </a:endParaRPr>
          </a:p>
          <a:p>
            <a:pPr algn="just"/>
            <a:r>
              <a:rPr lang="en-US" sz="1700" b="1" dirty="0">
                <a:latin typeface="Work Sans"/>
              </a:rPr>
              <a:t>Next Hike IT Solutions </a:t>
            </a:r>
            <a:r>
              <a:rPr lang="en-US" sz="1700" dirty="0">
                <a:latin typeface="Work Sans"/>
              </a:rPr>
              <a:t>is a growing IT services and solutions company that focuses on delivering innovative, reliable, and cost-effective technology solutions. The company specializes in providing end-to-end IT services, helping businesses improve efficiency, productivity, and digital transformation.</a:t>
            </a:r>
          </a:p>
          <a:p>
            <a:pPr algn="just"/>
            <a:r>
              <a:rPr lang="en-US" sz="1700" b="1" dirty="0">
                <a:latin typeface="Work Sans"/>
              </a:rPr>
              <a:t>Next Hike IT Solutions </a:t>
            </a:r>
            <a:r>
              <a:rPr lang="en-US" sz="1700" dirty="0">
                <a:latin typeface="Work Sans"/>
              </a:rPr>
              <a:t>is committed to quality, client satisfaction, and continuous innovation, making it a trusted technology partner for organizations across various industries.</a:t>
            </a:r>
          </a:p>
        </p:txBody>
      </p:sp>
    </p:spTree>
    <p:extLst>
      <p:ext uri="{BB962C8B-B14F-4D97-AF65-F5344CB8AC3E}">
        <p14:creationId xmlns:p14="http://schemas.microsoft.com/office/powerpoint/2010/main" val="145209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9766-DBA4-A3CB-9FFD-4FC129CD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922845"/>
            <a:ext cx="7053542" cy="667829"/>
          </a:xfrm>
        </p:spPr>
        <p:txBody>
          <a:bodyPr>
            <a:noAutofit/>
          </a:bodyPr>
          <a:lstStyle/>
          <a:p>
            <a:r>
              <a:rPr lang="en-US" sz="4400" dirty="0">
                <a:latin typeface="Work Sans"/>
              </a:rPr>
              <a:t>Introduction – Roshan Kumar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EC80-9674-E456-741C-5461D83F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84" y="2190751"/>
            <a:ext cx="8278416" cy="3467100"/>
          </a:xfrm>
        </p:spPr>
        <p:txBody>
          <a:bodyPr>
            <a:noAutofit/>
          </a:bodyPr>
          <a:lstStyle/>
          <a:p>
            <a:r>
              <a:rPr lang="en-US" sz="1600" dirty="0"/>
              <a:t>My name is </a:t>
            </a:r>
            <a:r>
              <a:rPr lang="en-US" sz="1600" b="1" dirty="0"/>
              <a:t>Roshan Kumar</a:t>
            </a:r>
            <a:r>
              <a:rPr lang="en-US" sz="1600" dirty="0"/>
              <a:t>, and I am passionate about </a:t>
            </a:r>
            <a:r>
              <a:rPr lang="en-US" sz="1600" b="1" dirty="0"/>
              <a:t>data analysis and dashboard development</a:t>
            </a:r>
            <a:r>
              <a:rPr lang="en-US" sz="1600" dirty="0"/>
              <a:t>.</a:t>
            </a:r>
          </a:p>
          <a:p>
            <a:r>
              <a:rPr lang="en-US" sz="1600" dirty="0"/>
              <a:t>I have hands-on experience in </a:t>
            </a:r>
            <a:r>
              <a:rPr lang="en-US" sz="1600" b="1" dirty="0"/>
              <a:t>Excel, Power Query, Pivot Tables, and VBA Macros</a:t>
            </a:r>
            <a:r>
              <a:rPr lang="en-US" sz="1600" dirty="0"/>
              <a:t>, </a:t>
            </a:r>
            <a:r>
              <a:rPr lang="en-US" sz="1600" b="1" dirty="0"/>
              <a:t>Python, Data Management, SQL.</a:t>
            </a:r>
            <a:endParaRPr lang="en-US" sz="1600" dirty="0"/>
          </a:p>
          <a:p>
            <a:r>
              <a:rPr lang="en-US" sz="1600" dirty="0"/>
              <a:t>I enjoy working on </a:t>
            </a:r>
            <a:r>
              <a:rPr lang="en-US" sz="1600" b="1" dirty="0"/>
              <a:t>data cleaning, transformation, and automation</a:t>
            </a:r>
            <a:r>
              <a:rPr lang="en-US" sz="1600" dirty="0"/>
              <a:t> to convert raw data into meaningful insights.</a:t>
            </a:r>
          </a:p>
          <a:p>
            <a:r>
              <a:rPr lang="en-US" sz="1600" dirty="0"/>
              <a:t>I focus on building </a:t>
            </a:r>
            <a:r>
              <a:rPr lang="en-US" sz="1600" b="1" dirty="0"/>
              <a:t>interactive, user-friendly, and scalable dashboards</a:t>
            </a:r>
            <a:r>
              <a:rPr lang="en-US" sz="1600" dirty="0"/>
              <a:t> for effective decision-making.</a:t>
            </a:r>
          </a:p>
          <a:p>
            <a:r>
              <a:rPr lang="en-US" sz="1600" dirty="0"/>
              <a:t>This project showcases my ability to handle </a:t>
            </a:r>
            <a:r>
              <a:rPr lang="en-US" sz="1600" b="1" dirty="0"/>
              <a:t>end-to-end data workflows</a:t>
            </a:r>
            <a:r>
              <a:rPr lang="en-US" sz="1600" dirty="0"/>
              <a:t>, from raw datasets to professional dashboards.</a:t>
            </a:r>
          </a:p>
        </p:txBody>
      </p:sp>
    </p:spTree>
    <p:extLst>
      <p:ext uri="{BB962C8B-B14F-4D97-AF65-F5344CB8AC3E}">
        <p14:creationId xmlns:p14="http://schemas.microsoft.com/office/powerpoint/2010/main" val="429387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808" y="1351415"/>
            <a:ext cx="8773610" cy="1820048"/>
          </a:xfrm>
        </p:spPr>
        <p:txBody>
          <a:bodyPr/>
          <a:lstStyle/>
          <a:p>
            <a:r>
              <a:rPr sz="5600" dirty="0"/>
              <a:t>Mobile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432" y="4676925"/>
            <a:ext cx="6620968" cy="861420"/>
          </a:xfrm>
        </p:spPr>
        <p:txBody>
          <a:bodyPr/>
          <a:lstStyle/>
          <a:p>
            <a:r>
              <a:rPr dirty="0"/>
              <a:t>A Complete ML Project</a:t>
            </a:r>
          </a:p>
          <a:p>
            <a:r>
              <a:rPr dirty="0"/>
              <a:t>Date: April 2</a:t>
            </a:r>
            <a:r>
              <a:rPr lang="en-US" dirty="0"/>
              <a:t>4</a:t>
            </a:r>
            <a:r>
              <a:rPr dirty="0"/>
              <a:t>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84" y="452718"/>
            <a:ext cx="7055380" cy="936244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84" y="1828009"/>
            <a:ext cx="5716891" cy="3029741"/>
          </a:xfrm>
        </p:spPr>
        <p:txBody>
          <a:bodyPr>
            <a:normAutofit/>
          </a:bodyPr>
          <a:lstStyle/>
          <a:p>
            <a:r>
              <a:rPr sz="1800" dirty="0"/>
              <a:t>• Objective: Predict mobile phone prices using specifications</a:t>
            </a:r>
          </a:p>
          <a:p>
            <a:r>
              <a:rPr sz="1800" dirty="0"/>
              <a:t>• Dataset: 541 mobile phone records</a:t>
            </a:r>
          </a:p>
          <a:p>
            <a:r>
              <a:rPr sz="1800" dirty="0"/>
              <a:t>• Features: RAM, Battery, Camera, Processor, Model, </a:t>
            </a:r>
            <a:r>
              <a:rPr sz="1800" dirty="0" err="1"/>
              <a:t>Colour</a:t>
            </a:r>
            <a:endParaRPr sz="1800" dirty="0"/>
          </a:p>
          <a:p>
            <a:r>
              <a:rPr sz="1800" dirty="0"/>
              <a:t>• Models: Linear Regression, Decision Tree, Random Forest</a:t>
            </a:r>
          </a:p>
          <a:p>
            <a:r>
              <a:rPr sz="1800" dirty="0"/>
              <a:t>• Evaluation: MAE and RMSE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7EC5F5-D579-ECCA-63D1-99D42AEA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270017"/>
            <a:ext cx="3130445" cy="41457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344028" cy="4195481"/>
          </a:xfrm>
        </p:spPr>
        <p:txBody>
          <a:bodyPr/>
          <a:lstStyle/>
          <a:p>
            <a:r>
              <a:rPr dirty="0"/>
              <a:t>• Total samples: 541</a:t>
            </a:r>
          </a:p>
          <a:p>
            <a:r>
              <a:rPr dirty="0"/>
              <a:t>• Features: Model, </a:t>
            </a:r>
            <a:r>
              <a:rPr dirty="0" err="1"/>
              <a:t>Colour</a:t>
            </a:r>
            <a:r>
              <a:rPr dirty="0"/>
              <a:t>, Memory, RAM, Battery, </a:t>
            </a:r>
            <a:r>
              <a:rPr lang="en-US" dirty="0"/>
              <a:t>		  </a:t>
            </a:r>
            <a:r>
              <a:rPr dirty="0"/>
              <a:t>Rear Camera, Front Camera, AI Lens, Processor, Price</a:t>
            </a:r>
          </a:p>
          <a:p>
            <a:r>
              <a:rPr dirty="0"/>
              <a:t>• Target variable: Price (INR)</a:t>
            </a:r>
          </a:p>
          <a:p>
            <a:r>
              <a:rPr dirty="0"/>
              <a:t>• Price range: ₹920 - ₹34265</a:t>
            </a:r>
          </a:p>
          <a:p>
            <a:r>
              <a:rPr dirty="0"/>
              <a:t>• No missing values after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62" y="319368"/>
            <a:ext cx="7055380" cy="1400530"/>
          </a:xfrm>
        </p:spPr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726" y="1331259"/>
            <a:ext cx="5258774" cy="3926541"/>
          </a:xfrm>
        </p:spPr>
        <p:txBody>
          <a:bodyPr>
            <a:normAutofit/>
          </a:bodyPr>
          <a:lstStyle/>
          <a:p>
            <a:r>
              <a:rPr sz="1800" dirty="0"/>
              <a:t>• Cleaned price column (removed commas)</a:t>
            </a:r>
          </a:p>
          <a:p>
            <a:r>
              <a:rPr sz="1800" dirty="0"/>
              <a:t>• Extracted numeric values from camera specs</a:t>
            </a:r>
          </a:p>
          <a:p>
            <a:r>
              <a:rPr sz="1800" dirty="0"/>
              <a:t>• Handled outliers by capping extreme prices</a:t>
            </a:r>
          </a:p>
          <a:p>
            <a:r>
              <a:rPr sz="1800" dirty="0"/>
              <a:t>• Encoded categorical variables:</a:t>
            </a:r>
          </a:p>
          <a:p>
            <a:r>
              <a:rPr lang="en-US" sz="1800" dirty="0"/>
              <a:t> </a:t>
            </a:r>
            <a:r>
              <a:rPr sz="1800" dirty="0"/>
              <a:t> </a:t>
            </a:r>
            <a:r>
              <a:rPr lang="en-US" sz="1800" dirty="0"/>
              <a:t>- </a:t>
            </a:r>
            <a:r>
              <a:rPr sz="1800" dirty="0"/>
              <a:t>Model, </a:t>
            </a:r>
            <a:r>
              <a:rPr sz="1800" dirty="0" err="1"/>
              <a:t>Colour</a:t>
            </a:r>
            <a:r>
              <a:rPr sz="1800" dirty="0"/>
              <a:t>, Processor (Label Encoding)</a:t>
            </a:r>
          </a:p>
          <a:p>
            <a:r>
              <a:rPr sz="1800" dirty="0"/>
              <a:t>• Removed unnecessary columns </a:t>
            </a:r>
            <a:r>
              <a:rPr lang="en-US" sz="1800" dirty="0"/>
              <a:t>  </a:t>
            </a:r>
            <a:r>
              <a:rPr sz="1800" dirty="0"/>
              <a:t>(Mobile Height)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AD608-D8C0-230E-96DD-F24123D6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600" y="1331258"/>
            <a:ext cx="3586538" cy="3926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84" y="359828"/>
            <a:ext cx="7055380" cy="823632"/>
          </a:xfrm>
        </p:spPr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683" y="1183460"/>
            <a:ext cx="4477092" cy="4195481"/>
          </a:xfrm>
        </p:spPr>
        <p:txBody>
          <a:bodyPr>
            <a:normAutofit/>
          </a:bodyPr>
          <a:lstStyle/>
          <a:p>
            <a:r>
              <a:rPr sz="1800" dirty="0"/>
              <a:t>• Price distribution: Right-skewed</a:t>
            </a:r>
          </a:p>
          <a:p>
            <a:r>
              <a:rPr sz="1800" dirty="0"/>
              <a:t>• Key correlations:</a:t>
            </a:r>
          </a:p>
          <a:p>
            <a:r>
              <a:rPr sz="1800" dirty="0"/>
              <a:t>  - Memory: 0.68</a:t>
            </a:r>
          </a:p>
          <a:p>
            <a:r>
              <a:rPr sz="1800" dirty="0"/>
              <a:t>  - Front Camera: 0.65</a:t>
            </a:r>
          </a:p>
          <a:p>
            <a:r>
              <a:rPr sz="1800" dirty="0"/>
              <a:t>  - RAM: 0.65</a:t>
            </a:r>
          </a:p>
          <a:p>
            <a:r>
              <a:rPr sz="1800" dirty="0"/>
              <a:t>  - Rear Camera: 0.54</a:t>
            </a:r>
          </a:p>
          <a:p>
            <a:r>
              <a:rPr sz="1800" dirty="0"/>
              <a:t>• Battery and AI Lens have lower correlation</a:t>
            </a:r>
          </a:p>
          <a:p>
            <a:r>
              <a:rPr sz="1800" dirty="0"/>
              <a:t>• Categorical analysis shows price variations by specs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066BBF-5DD0-7D6F-5FD1-E8498624D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62" y="1183460"/>
            <a:ext cx="4274855" cy="44192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37" y="452718"/>
            <a:ext cx="7055380" cy="861732"/>
          </a:xfrm>
        </p:spPr>
        <p:txBody>
          <a:bodyPr/>
          <a:lstStyle/>
          <a:p>
            <a:r>
              <a:rPr dirty="0"/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300" y="1473225"/>
            <a:ext cx="6711654" cy="4195481"/>
          </a:xfrm>
        </p:spPr>
        <p:txBody>
          <a:bodyPr/>
          <a:lstStyle/>
          <a:p>
            <a:r>
              <a:rPr dirty="0"/>
              <a:t>• Methods used: Correlation, </a:t>
            </a:r>
            <a:r>
              <a:rPr dirty="0" err="1"/>
              <a:t>SelectKBest</a:t>
            </a:r>
            <a:r>
              <a:rPr dirty="0"/>
              <a:t>, Random Forest</a:t>
            </a:r>
          </a:p>
          <a:p>
            <a:r>
              <a:rPr dirty="0"/>
              <a:t>• Top features selected: Front Camera, Battery, Model, Memory, Processor, Rear Camera</a:t>
            </a:r>
          </a:p>
          <a:p>
            <a:r>
              <a:rPr dirty="0"/>
              <a:t>• Random Forest feature importance:</a:t>
            </a:r>
          </a:p>
          <a:p>
            <a:r>
              <a:rPr dirty="0"/>
              <a:t>  - Front Camera: 0.499</a:t>
            </a:r>
          </a:p>
          <a:p>
            <a:r>
              <a:rPr dirty="0"/>
              <a:t>  - Battery: 0.132</a:t>
            </a:r>
          </a:p>
          <a:p>
            <a:r>
              <a:rPr dirty="0"/>
              <a:t>  - Model: 0.109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60337"/>
            <a:ext cx="5543550" cy="846660"/>
          </a:xfrm>
        </p:spPr>
        <p:txBody>
          <a:bodyPr/>
          <a:lstStyle/>
          <a:p>
            <a:r>
              <a:rPr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418" y="1006997"/>
            <a:ext cx="2936232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Linear Regression:</a:t>
            </a:r>
          </a:p>
          <a:p>
            <a:r>
              <a:rPr dirty="0"/>
              <a:t>• Train MAE: ₹3548</a:t>
            </a:r>
          </a:p>
          <a:p>
            <a:r>
              <a:rPr dirty="0"/>
              <a:t>• Test MAE: ₹3086</a:t>
            </a:r>
          </a:p>
          <a:p>
            <a:endParaRPr dirty="0"/>
          </a:p>
          <a:p>
            <a:r>
              <a:rPr dirty="0"/>
              <a:t>Decision Tree:</a:t>
            </a:r>
          </a:p>
          <a:p>
            <a:r>
              <a:rPr dirty="0"/>
              <a:t>• Train MAE: ₹215</a:t>
            </a:r>
          </a:p>
          <a:p>
            <a:r>
              <a:rPr dirty="0"/>
              <a:t>• Test MAE: ₹927</a:t>
            </a:r>
          </a:p>
          <a:p>
            <a:endParaRPr dirty="0"/>
          </a:p>
          <a:p>
            <a:r>
              <a:rPr dirty="0"/>
              <a:t>Random Forest:</a:t>
            </a:r>
          </a:p>
          <a:p>
            <a:r>
              <a:rPr dirty="0"/>
              <a:t>• Train MAE: ₹585</a:t>
            </a:r>
          </a:p>
          <a:p>
            <a:r>
              <a:rPr dirty="0"/>
              <a:t>• Test MAE: ₹1148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87368-1824-91E9-4F86-DDCA6F3BD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240" y="1372122"/>
            <a:ext cx="2931848" cy="2056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88CAB-6D7F-0143-5F98-3FE47E38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815" y="3769912"/>
            <a:ext cx="2931848" cy="2262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0C5F98-4FD0-FA61-DBCF-CEB5DF153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158" y="1365500"/>
            <a:ext cx="2864719" cy="206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92BD7D-5993-912E-7730-35ACE92E4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158" y="3769912"/>
            <a:ext cx="2864719" cy="22629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985" y="357004"/>
            <a:ext cx="7055380" cy="966971"/>
          </a:xfrm>
        </p:spPr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48" y="1662400"/>
            <a:ext cx="6711654" cy="2852449"/>
          </a:xfrm>
        </p:spPr>
        <p:txBody>
          <a:bodyPr/>
          <a:lstStyle/>
          <a:p>
            <a:r>
              <a:rPr dirty="0"/>
              <a:t>• Front Camera is the most important predictor</a:t>
            </a:r>
          </a:p>
          <a:p>
            <a:r>
              <a:rPr dirty="0"/>
              <a:t>• Random Forest provides best performance</a:t>
            </a:r>
          </a:p>
          <a:p>
            <a:r>
              <a:rPr dirty="0"/>
              <a:t>• Decision Tree overfits training data</a:t>
            </a:r>
          </a:p>
          <a:p>
            <a:r>
              <a:rPr dirty="0"/>
              <a:t>• Linear Regression performs reasonably well</a:t>
            </a:r>
          </a:p>
          <a:p>
            <a:r>
              <a:rPr dirty="0"/>
              <a:t>• Price prediction accuracy: ~₹1,148 MAE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847" y="452718"/>
            <a:ext cx="7055380" cy="947457"/>
          </a:xfrm>
        </p:spPr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86200"/>
            <a:ext cx="6711654" cy="3109625"/>
          </a:xfrm>
        </p:spPr>
        <p:txBody>
          <a:bodyPr/>
          <a:lstStyle/>
          <a:p>
            <a:r>
              <a:rPr dirty="0"/>
              <a:t>• Use Random Forest for production predictions</a:t>
            </a:r>
          </a:p>
          <a:p>
            <a:r>
              <a:rPr dirty="0"/>
              <a:t>• Consider feature engineering (brand extraction)</a:t>
            </a:r>
          </a:p>
          <a:p>
            <a:r>
              <a:rPr dirty="0"/>
              <a:t>• Collect more diverse data for better generalization</a:t>
            </a:r>
          </a:p>
          <a:p>
            <a:r>
              <a:rPr dirty="0"/>
              <a:t>• Monitor model performance over time</a:t>
            </a:r>
          </a:p>
          <a:p>
            <a:r>
              <a:rPr dirty="0"/>
              <a:t>• Consider additional features (screen size, OS version)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6"/>
            <a:ext cx="8229600" cy="827329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6" y="2002420"/>
            <a:ext cx="8229600" cy="4224759"/>
          </a:xfrm>
        </p:spPr>
        <p:txBody>
          <a:bodyPr>
            <a:normAutofit/>
          </a:bodyPr>
          <a:lstStyle/>
          <a:p>
            <a:r>
              <a:rPr lang="en-US" dirty="0"/>
              <a:t>• Successfully built ML model for mobile price prediction</a:t>
            </a:r>
          </a:p>
          <a:p>
            <a:r>
              <a:rPr lang="en-US" dirty="0"/>
              <a:t>• Random Forest achieved best results with MAE of ₹1,148</a:t>
            </a:r>
          </a:p>
          <a:p>
            <a:r>
              <a:rPr lang="en-US" dirty="0"/>
              <a:t>• Front Camera emerged as key price determinant</a:t>
            </a:r>
          </a:p>
          <a:p>
            <a:r>
              <a:rPr lang="en-US" dirty="0"/>
              <a:t>• Project demonstrates complete ML pipeline:</a:t>
            </a:r>
          </a:p>
          <a:p>
            <a:r>
              <a:rPr lang="en-US" dirty="0"/>
              <a:t>  - Data preprocessing → EDA → Feature selection</a:t>
            </a:r>
          </a:p>
          <a:p>
            <a:r>
              <a:rPr lang="en-US" dirty="0"/>
              <a:t>  - Model training → Evaluation → Deployment</a:t>
            </a:r>
          </a:p>
          <a:p>
            <a:r>
              <a:rPr lang="en-US" dirty="0"/>
              <a:t>• Model saved for future predictions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639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 3</vt:lpstr>
      <vt:lpstr>Work Sans</vt:lpstr>
      <vt:lpstr>Ion</vt:lpstr>
      <vt:lpstr>Next Hikes IT Solutions</vt:lpstr>
      <vt:lpstr>Introduction – Roshan Kumar</vt:lpstr>
      <vt:lpstr>Mobile Price Prediction Using Machine Learning</vt:lpstr>
      <vt:lpstr>Project Overview</vt:lpstr>
      <vt:lpstr>Data Overview</vt:lpstr>
      <vt:lpstr>Data Preprocessing</vt:lpstr>
      <vt:lpstr>Exploratory Data Analysis</vt:lpstr>
      <vt:lpstr>Feature Selection</vt:lpstr>
      <vt:lpstr>Model Performance</vt:lpstr>
      <vt:lpstr>Key Findings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Kumar</cp:lastModifiedBy>
  <cp:revision>6</cp:revision>
  <dcterms:created xsi:type="dcterms:W3CDTF">2013-01-27T09:14:16Z</dcterms:created>
  <dcterms:modified xsi:type="dcterms:W3CDTF">2026-04-25T19:50:46Z</dcterms:modified>
  <cp:category/>
</cp:coreProperties>
</file>